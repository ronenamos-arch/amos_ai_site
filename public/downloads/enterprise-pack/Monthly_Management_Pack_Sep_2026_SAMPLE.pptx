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2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A2F"/>
                </a:solidFill>
                <a:latin typeface="Calibri"/>
              </a:rPr>
              <a:t>Net revenue (USD 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F4C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8269</c:v>
                </c:pt>
                <c:pt idx="1">
                  <c:v>8211</c:v>
                </c:pt>
                <c:pt idx="2">
                  <c:v>9414</c:v>
                </c:pt>
                <c:pt idx="3">
                  <c:v>8837</c:v>
                </c:pt>
                <c:pt idx="4">
                  <c:v>8938</c:v>
                </c:pt>
                <c:pt idx="5">
                  <c:v>9515</c:v>
                </c:pt>
                <c:pt idx="6">
                  <c:v>7909</c:v>
                </c:pt>
                <c:pt idx="7">
                  <c:v>8194</c:v>
                </c:pt>
                <c:pt idx="8">
                  <c:v>9858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B8C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8315</c:v>
                </c:pt>
                <c:pt idx="1">
                  <c:v>8190</c:v>
                </c:pt>
                <c:pt idx="2">
                  <c:v>9313</c:v>
                </c:pt>
                <c:pt idx="3">
                  <c:v>8741</c:v>
                </c:pt>
                <c:pt idx="4">
                  <c:v>8889</c:v>
                </c:pt>
                <c:pt idx="5">
                  <c:v>9523</c:v>
                </c:pt>
                <c:pt idx="6">
                  <c:v>7954</c:v>
                </c:pt>
                <c:pt idx="7">
                  <c:v>8139</c:v>
                </c:pt>
                <c:pt idx="8">
                  <c:v>9747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Prior year</c:v>
                </c:pt>
              </c:strCache>
            </c:strRef>
          </c:tx>
          <c:spPr>
            <a:solidFill>
              <a:srgbClr val="D9A0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8040</c:v>
                </c:pt>
                <c:pt idx="1">
                  <c:v>7920</c:v>
                </c:pt>
                <c:pt idx="2">
                  <c:v>9005</c:v>
                </c:pt>
                <c:pt idx="3">
                  <c:v>8452</c:v>
                </c:pt>
                <c:pt idx="4">
                  <c:v>8595</c:v>
                </c:pt>
                <c:pt idx="5">
                  <c:v>9208</c:v>
                </c:pt>
                <c:pt idx="6">
                  <c:v>7691</c:v>
                </c:pt>
                <c:pt idx="7">
                  <c:v>7870</c:v>
                </c:pt>
                <c:pt idx="8">
                  <c:v>9425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6000"/>
        </c:scaling>
        <c:delete val="0"/>
        <c:axPos val="l"/>
        <c:majorGridlines>
          <c:spPr>
            <a:ln w="6350" cap="flat">
              <a:solidFill>
                <a:srgbClr val="E6EB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2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A2F"/>
                </a:solidFill>
                <a:latin typeface="Calibri"/>
              </a:rPr>
              <a:t>EBITDA margin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F4C4A"/>
            </a:solidFill>
            <a:ln w="31750" cap="flat">
              <a:solidFill>
                <a:srgbClr val="0F4C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F4C4A"/>
              </a:solidFill>
              <a:ln w="9525" cap="flat">
                <a:solidFill>
                  <a:srgbClr val="0F4C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17.8</c:v>
                </c:pt>
                <c:pt idx="1">
                  <c:v>19</c:v>
                </c:pt>
                <c:pt idx="2">
                  <c:v>19.9</c:v>
                </c:pt>
                <c:pt idx="3">
                  <c:v>21</c:v>
                </c:pt>
                <c:pt idx="4">
                  <c:v>19.7</c:v>
                </c:pt>
                <c:pt idx="5">
                  <c:v>18.9</c:v>
                </c:pt>
                <c:pt idx="6">
                  <c:v>19.6</c:v>
                </c:pt>
                <c:pt idx="7">
                  <c:v>20.2</c:v>
                </c:pt>
                <c:pt idx="8">
                  <c:v>20.1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9AA5A8"/>
            </a:solidFill>
            <a:ln w="31750" cap="flat">
              <a:solidFill>
                <a:srgbClr val="9AA5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9AA5A8"/>
              </a:solidFill>
              <a:ln w="9525" cap="flat">
                <a:solidFill>
                  <a:srgbClr val="9AA5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19.7</c:v>
                </c:pt>
                <c:pt idx="1">
                  <c:v>19.6</c:v>
                </c:pt>
                <c:pt idx="2">
                  <c:v>20</c:v>
                </c:pt>
                <c:pt idx="3">
                  <c:v>19.8</c:v>
                </c:pt>
                <c:pt idx="4">
                  <c:v>19.9</c:v>
                </c:pt>
                <c:pt idx="5">
                  <c:v>20.1</c:v>
                </c:pt>
                <c:pt idx="6">
                  <c:v>19.5</c:v>
                </c:pt>
                <c:pt idx="7">
                  <c:v>19.6</c:v>
                </c:pt>
                <c:pt idx="8">
                  <c:v>20.2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Prior year</c:v>
                </c:pt>
              </c:strCache>
            </c:strRef>
          </c:tx>
          <c:spPr>
            <a:solidFill>
              <a:srgbClr val="D9A021"/>
            </a:solidFill>
            <a:ln w="31750" cap="flat">
              <a:solidFill>
                <a:srgbClr val="D9A02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9A021"/>
              </a:solidFill>
              <a:ln w="9525" cap="flat">
                <a:solidFill>
                  <a:srgbClr val="D9A02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19.4</c:v>
                </c:pt>
                <c:pt idx="1">
                  <c:v>19.4</c:v>
                </c:pt>
                <c:pt idx="2">
                  <c:v>19.8</c:v>
                </c:pt>
                <c:pt idx="3">
                  <c:v>19.6</c:v>
                </c:pt>
                <c:pt idx="4">
                  <c:v>19.7</c:v>
                </c:pt>
                <c:pt idx="5">
                  <c:v>19.9</c:v>
                </c:pt>
                <c:pt idx="6">
                  <c:v>19.3</c:v>
                </c:pt>
                <c:pt idx="7">
                  <c:v>19.4</c:v>
                </c:pt>
                <c:pt idx="8">
                  <c:v>19.9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16"/>
        </c:scaling>
        <c:delete val="0"/>
        <c:axPos val="l"/>
        <c:majorGridlines>
          <c:spPr>
            <a:ln w="6350" cap="flat">
              <a:solidFill>
                <a:srgbClr val="E6EB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output of the "Month End Reporting Pack" Claude project. Built from the three entity P&amp;L files and the group master held on Microsoft 365.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month, then YTD. Likely question: why is EBITDA behind when revenue is ahead? Answer: cost of sales, mostly direct materials in Company A (rate effect).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Jan–Feb and Jun were the weakest margin months vs budget; Apr, Aug and Sep were ahead.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Price/volume logic: Company A materials rate effect ≈ −411k, volume effect ≈ +117k. Items marked "To confirm" need owner explanation before the pack is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5486400" cy="5486400"/>
          </a:xfrm>
          <a:prstGeom prst="ellipse">
            <a:avLst/>
          </a:prstGeom>
          <a:solidFill>
            <a:srgbClr val="3E7C7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566160"/>
            <a:ext cx="3291840" cy="3291840"/>
          </a:xfrm>
          <a:prstGeom prst="ellipse">
            <a:avLst/>
          </a:prstGeom>
          <a:solidFill>
            <a:srgbClr val="D9A021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D9A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MANAGEMENT PACK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September 2026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results: Company A · Company B · Company C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937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FP&amp;A · 3 October 2026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thousands · Actual vs Budget vs Prior Year · Management reporting (non-statutory)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September beat budget; YTD EBITDA still 0.8% behind plan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· Group consolidated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3F6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REVENUE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9,858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 +111 (+1.1%)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PY +433 (+4.6%)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50876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3F6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044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EBITDA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1,984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 +20 (+1.0%)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PY +106 (+5.6%)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50876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3F6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REVENUE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79,144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 +335 (+0.4%)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PY +2,937 (+3.9%)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61120" y="150876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3F6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8972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EBITDA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15,509</a:t>
            </a:r>
            <a:endParaRPr lang="en-US" sz="38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 −129 (-0.8%)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PY +557 (+3.7%)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657600"/>
            <a:ext cx="11247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quarter-end month.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revenue 9,858k was +1.1% vs budget and +4.6% vs last year; EBITDA 1,984k (+1.0% vs BUD).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profitability slightly behind plan.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+335k ahead of budget, but EBITDA is −129k behind as cost of sales grew faster than revenue.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 is the main drag.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EBITDA −523k vs BUD: material cost per unit +3.4% above plan and product volume −1.0%. Company B and C are both ahead.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vs last year remains healthy.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revenue +3.9% and EBITDA +3.7% vs PY; group headcount 8 FTE below budget.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Microsoft 365 › Month End Reporting Pack › 2026-09 (PL_CO-A/B/C, Group Master) · USD thousands · Sample pack for training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P&amp;L: month ahead of budget, YTD gross margin 0.2pp below plan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P&amp;L summary · USD k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249424"/>
                <a:gridCol w="749808"/>
                <a:gridCol w="749808"/>
                <a:gridCol w="676656"/>
                <a:gridCol w="640080"/>
                <a:gridCol w="749808"/>
                <a:gridCol w="694944"/>
                <a:gridCol w="822960"/>
                <a:gridCol w="822960"/>
                <a:gridCol w="713232"/>
                <a:gridCol w="640080"/>
                <a:gridCol w="822960"/>
                <a:gridCol w="7315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A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Sep-26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Sep-26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% 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% 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7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79,144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78,809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76,207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(4,821)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(4,808)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(4,669)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(39,282)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(38,893)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(37,766)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39,862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39,916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38,440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8C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C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C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C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C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C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C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&amp; marketing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(1,262)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(1,228)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(1,182)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(9,910)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(9,923)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(9,554)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&amp; administrative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(1,181)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(1,155)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(1,121)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(9,664)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(9,578)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(9,295)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&amp; development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(591)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(574)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(4,779)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(4,778)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(4,639)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15,509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15,638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14,951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8C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C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C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C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C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C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C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 &amp; amortisation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(362)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(360)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(347)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(3,250)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(3,242)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(3,123)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income (EBIT)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12,395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income &amp; expense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(181)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(189)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(216)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tax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(349)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(348)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(331)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(2,650)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(2,685)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(2,555)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E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2179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shown as negatives (brackets); positive variance = favourable on every line.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Microsoft 365 › Month End Reporting Pack › 2026-09 (PL_CO-A/B/C, Group Master) · USD thousands · Sample pack for training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tracked budget all year; margin gap opened in Q1 and Q2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· Jan–Sep 2026 · Group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58521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92240" y="1417320"/>
          <a:ext cx="5212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Microsoft 365 › Month End Reporting Pack › 2026-09 (PL_CO-A/B/C, Group Master) · USD thousands · Sample pack for training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of sales absorbed the revenue beat: YTD EBITDA −129k vs budget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bridge · Budget to Actual · YTD Sep-26 · USD 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3443019"/>
            <a:ext cx="1051560" cy="2226261"/>
          </a:xfrm>
          <a:prstGeom prst="rect">
            <a:avLst/>
          </a:prstGeom>
          <a:solidFill>
            <a:srgbClr val="0F4C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095547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15,638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7607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EBITDA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3443019"/>
            <a:ext cx="502920" cy="0"/>
          </a:xfrm>
          <a:prstGeom prst="line">
            <a:avLst/>
          </a:prstGeom>
          <a:noFill/>
          <a:ln w="9525">
            <a:solidFill>
              <a:srgbClr val="A9B3B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377440" y="2274619"/>
            <a:ext cx="1051560" cy="1168401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94560" y="1927147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57607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2274619"/>
            <a:ext cx="502920" cy="0"/>
          </a:xfrm>
          <a:prstGeom prst="line">
            <a:avLst/>
          </a:prstGeom>
          <a:noFill/>
          <a:ln w="9525">
            <a:solidFill>
              <a:srgbClr val="A9B3B5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931920" y="2274619"/>
            <a:ext cx="1051560" cy="1358626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49040" y="1927147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−389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57607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sales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83480" y="3633244"/>
            <a:ext cx="502920" cy="0"/>
          </a:xfrm>
          <a:prstGeom prst="line">
            <a:avLst/>
          </a:prstGeom>
          <a:noFill/>
          <a:ln w="9525">
            <a:solidFill>
              <a:srgbClr val="A9B3B5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486400" y="3588164"/>
            <a:ext cx="1051560" cy="45081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03520" y="32406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57607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3588164"/>
            <a:ext cx="502920" cy="0"/>
          </a:xfrm>
          <a:prstGeom prst="line">
            <a:avLst/>
          </a:prstGeom>
          <a:noFill/>
          <a:ln w="9525">
            <a:solidFill>
              <a:srgbClr val="A9B3B5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040880" y="3588164"/>
            <a:ext cx="1051560" cy="303258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32406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−87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57607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G&amp;A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92440" y="3891422"/>
            <a:ext cx="502920" cy="0"/>
          </a:xfrm>
          <a:prstGeom prst="line">
            <a:avLst/>
          </a:prstGeom>
          <a:noFill/>
          <a:ln w="9525">
            <a:solidFill>
              <a:srgbClr val="A9B3B5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8595360" y="3891422"/>
            <a:ext cx="1051560" cy="27432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12480" y="354395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57607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646920" y="3893268"/>
            <a:ext cx="502920" cy="0"/>
          </a:xfrm>
          <a:prstGeom prst="line">
            <a:avLst/>
          </a:prstGeom>
          <a:noFill/>
          <a:ln w="9525">
            <a:solidFill>
              <a:srgbClr val="A9B3B5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0149840" y="3893268"/>
            <a:ext cx="1051560" cy="1776012"/>
          </a:xfrm>
          <a:prstGeom prst="rect">
            <a:avLst/>
          </a:prstGeom>
          <a:solidFill>
            <a:srgbClr val="0F4C4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966960" y="35457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15,509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966960" y="57607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EBITDA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5669280"/>
            <a:ext cx="10607040" cy="0"/>
          </a:xfrm>
          <a:prstGeom prst="line">
            <a:avLst/>
          </a:prstGeom>
          <a:noFill/>
          <a:ln w="12700">
            <a:solidFill>
              <a:srgbClr val="A9B3B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6172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starts at 15,000 to make movements visible. D&amp;A excluded from EBITDA bridge.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Microsoft 365 › Month End Reporting Pack › 2026-09 (PL_CO-A/B/C, Group Master) · USD thousands · Sample pack for training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B and C ahead of plan; Company A 7.9% below budget EBITDA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performance · YTD Sep-26 · USD 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566160" cy="4754880"/>
          </a:xfrm>
          <a:prstGeom prst="roundRect">
            <a:avLst>
              <a:gd name="adj" fmla="val 2564"/>
            </a:avLst>
          </a:prstGeom>
          <a:solidFill>
            <a:srgbClr val="F3F6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299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 manufacturer · Austin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E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97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37,724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272491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 −183 (-0.5%)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 +996 (+2.7%)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703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E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6,129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39593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 −523 (-7.9%)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 −230 (-3.6%)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846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 16.2% (BUD 17.5%)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166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volume −1.0% vs BUD and material cost per unit +3.4%. Gross margin 43.5% vs 44.6% budget.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51960" y="1463040"/>
            <a:ext cx="3566160" cy="4754880"/>
          </a:xfrm>
          <a:prstGeom prst="roundRect">
            <a:avLst>
              <a:gd name="adj" fmla="val 2564"/>
            </a:avLst>
          </a:prstGeom>
          <a:solidFill>
            <a:srgbClr val="F3F6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26280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B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20299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services &amp; installation · Denver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2468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E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2697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26,241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272491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 +363 (+1.4%)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 +1,149 (+4.6%)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3703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E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5,505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39593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 +281 (+5.4%)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 +407 (+8.0%)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4846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 21.0% (BUD 20.2%)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26280" y="5166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 hours +1.6% vs BUD at budget rate; service revenue drives the beat. Sep EBITDA +54k.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46720" y="1463040"/>
            <a:ext cx="3566160" cy="4754880"/>
          </a:xfrm>
          <a:prstGeom prst="roundRect">
            <a:avLst>
              <a:gd name="adj" fmla="val 2564"/>
            </a:avLst>
          </a:prstGeom>
          <a:solidFill>
            <a:srgbClr val="F3F6F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21040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C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20299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software &amp; support · Tampa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2468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E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2697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15,179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9966960" y="272491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 +154 (+1.0%)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 +792 (+5.5%)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3703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E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3,875</a:t>
            </a:r>
            <a:endParaRPr lang="en-US" sz="2800" dirty="0"/>
          </a:p>
        </p:txBody>
      </p:sp>
      <p:sp>
        <p:nvSpPr>
          <p:cNvPr id="34" name="Text 32"/>
          <p:cNvSpPr txBox="1"/>
          <p:nvPr/>
        </p:nvSpPr>
        <p:spPr>
          <a:xfrm>
            <a:off x="9966960" y="39593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 +113 (+3.0%)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 +380 (+10.9%)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4846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 25.5% (BUD 25.0%)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321040" y="5166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subscriptions +1.4% vs BUD at stable revenue per subscription. Sep EBITDA 31k below BUD.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Microsoft 365 › Month End Reporting Pack › 2026-09 (PL_CO-A/B/C, Group Master) · USD thousands · Sample pack for training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YTD variance drivers vs budget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analysis · Group · YTD Sep-26 · USD k · Commentary to be confirmed with owners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5394960"/>
                <a:gridCol w="109728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vs BUD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data shows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materials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−366 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A −294k: cost per unit 1,441 vs 1,393 budget (+3.4%), partly offset by lower volume.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(Co. 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+299 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B +238k: billable hours 113.2k vs 111.4k budget at unchanged rate (~134/hour).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Director (Co. 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 &amp; maintenance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+242 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C +136k: subscription-months +1.4% vs budget; revenue per subscription on plan.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 (Co. 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−188 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A −269k: 8,629 units vs 8,713 budget (−1.0%) at budget price; Company B +79k.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(Co. 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&amp; software subscriptions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−42 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Overspend across all entities; driver not identifiable from data.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&amp; advertising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+37 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Favourable YTD but −36k unfavourable in September: possible phasing of campaign spend.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 &amp; entertainment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−36 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Unfavourable YTD; driver not identifiable from data.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CFOs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Microsoft 365 › Month End Reporting Pack › 2026-09 (PL_CO-A/B/C, Group Master) · USD thousands · Sample pack for training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scorecard: operating volumes ahead, margins mixed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and operational KPIs · Group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1097280"/>
                <a:gridCol w="1097280"/>
                <a:gridCol w="640080"/>
                <a:gridCol w="1143000"/>
                <a:gridCol w="1143000"/>
                <a:gridCol w="1143000"/>
                <a:gridCol w="6858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BUD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BUD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02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0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02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excl. D&amp;A %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0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per FTE (USD k / month)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Headcount, FTE (Sep / YTD avg)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subscriptions (Sep / YTD avg)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Billable service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20,572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20,345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20,127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166,341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164,178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162,421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sold – 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11,947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02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invoiced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G = at or better than budget · A = within 0.5pp (margins) or 1% (volumes) · R = worse. For headcount and opex ratio, lower is better.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Microsoft 365 › Month End Reporting Pack › 2026-09 (PL_CO-A/B/C, Group Master) · USD thousands · Sample pack for training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FY2026 outlook: illustrative 9+3 run-rate points to ~105m revenue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forecast · Latest estimate (illustrative) · USD 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240280" cy="2011680"/>
          </a:xfrm>
          <a:prstGeom prst="roundRect">
            <a:avLst>
              <a:gd name="adj" fmla="val 4545"/>
            </a:avLst>
          </a:prstGeom>
          <a:solidFill>
            <a:srgbClr val="0F4C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FY LE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105,104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actual 79,144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= Q3 run-rate 25,961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80360" y="1508760"/>
            <a:ext cx="2240280" cy="2011680"/>
          </a:xfrm>
          <a:prstGeom prst="roundRect">
            <a:avLst>
              <a:gd name="adj" fmla="val 4545"/>
            </a:avLst>
          </a:prstGeom>
          <a:solidFill>
            <a:srgbClr val="F3F6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6324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E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FY LE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1965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20,697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2697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actual 15,509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= Q3 run-rate 5,188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1508760"/>
            <a:ext cx="2240280" cy="2011680"/>
          </a:xfrm>
          <a:prstGeom prst="roundRect">
            <a:avLst>
              <a:gd name="adj" fmla="val 4545"/>
            </a:avLst>
          </a:prstGeom>
          <a:solidFill>
            <a:srgbClr val="F3F6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E7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FY LE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1965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12,585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2697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actual 9,427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= Q3 run-rate 3,158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7086600" cy="1554480"/>
          </a:xfrm>
          <a:prstGeom prst="roundRect">
            <a:avLst>
              <a:gd name="adj" fmla="val 5882"/>
            </a:avLst>
          </a:prstGeom>
          <a:solidFill>
            <a:srgbClr val="FBF3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97764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illustrative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set contains Jan–Sep only: no Q4 budget phasing, no Q4 2025 seasonality and no entity driver forecasts. Q4 is therefore set equal to Q3 actuals and is not a management forecast.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1508760"/>
            <a:ext cx="38404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needed to publish the 9+3 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budget by month and entity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 actuals (seasonality)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forecasts: units, hours, subscriptions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plan and open roles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one-offs, contracts and price changes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opportunities register with probabilities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Microsoft 365 › Month End Reporting Pack › 2026-09 (PL_CO-A/B/C, Group Master) · USD thousands · Sample pack for training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4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and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3E7C78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D9A02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37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A margin recovery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3317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supplier pricing and bill of materials; present options to protect gross margin.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3108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Co. A CEO &amp; Procurement · 15 Oct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3E7C78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737360"/>
            <a:ext cx="548640" cy="548640"/>
          </a:xfrm>
          <a:prstGeom prst="ellipse">
            <a:avLst/>
          </a:prstGeom>
          <a:solidFill>
            <a:srgbClr val="D9A02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737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September phasing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3317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marketing, R&amp;D external services and professional fees overspend in September: timing or permanent?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3108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CFOs · 8 Oct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3E7C78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rgbClr val="D9A02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1605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9+3 latest estimate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7548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Q4 drivers and risks &amp; opportunities; replace the illustrative run-rate.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5532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· 17 Oct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8862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3E7C78">
              <a:alpha val="7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92240" y="4160520"/>
            <a:ext cx="548640" cy="548640"/>
          </a:xfrm>
          <a:prstGeom prst="ellipse">
            <a:avLst/>
          </a:prstGeom>
          <a:solidFill>
            <a:srgbClr val="D9A02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922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41605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Headcount plan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47548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FTE below budget: confirm hiring timeline and effect on Q4 capacity.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5532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Entity CEOs · 17 Oct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Management Pack – September 2026</dc:title>
  <dc:subject>PptxGenJS Presentation</dc:subject>
  <dc:creator>PptxGenJS</dc:creator>
  <cp:lastModifiedBy>PptxGenJS</cp:lastModifiedBy>
  <cp:revision>1</cp:revision>
  <dcterms:created xsi:type="dcterms:W3CDTF">2026-09-17T08:21:09Z</dcterms:created>
  <dcterms:modified xsi:type="dcterms:W3CDTF">2026-09-17T08:21:09Z</dcterms:modified>
</cp:coreProperties>
</file>